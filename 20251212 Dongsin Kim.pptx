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6" r:id="rId1"/>
  </p:sldMasterIdLst>
  <p:notesMasterIdLst>
    <p:notesMasterId r:id="rId13"/>
  </p:notesMasterIdLst>
  <p:sldIdLst>
    <p:sldId id="264" r:id="rId2"/>
    <p:sldId id="289" r:id="rId3"/>
    <p:sldId id="290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1016"/>
    <a:srgbClr val="B40225"/>
    <a:srgbClr val="3142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709" autoAdjust="0"/>
    <p:restoredTop sz="94737"/>
  </p:normalViewPr>
  <p:slideViewPr>
    <p:cSldViewPr>
      <p:cViewPr varScale="1">
        <p:scale>
          <a:sx n="145" d="100"/>
          <a:sy n="145" d="100"/>
        </p:scale>
        <p:origin x="680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120" d="100"/>
          <a:sy n="120" d="100"/>
        </p:scale>
        <p:origin x="3056" y="192"/>
      </p:cViewPr>
      <p:guideLst/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E4FB8A-C686-704C-B897-366C5BAA116D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B6991D-3C2C-3848-84C0-34B75B21B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501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6991D-3C2C-3848-84C0-34B75B21B9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84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C5649-11CF-8B49-FE25-86F85A5CA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440" y="555170"/>
            <a:ext cx="10081120" cy="2880320"/>
          </a:xfrm>
          <a:prstGeom prst="rect">
            <a:avLst/>
          </a:prstGeom>
        </p:spPr>
        <p:txBody>
          <a:bodyPr anchor="ctr"/>
          <a:lstStyle>
            <a:lvl1pPr algn="ctr">
              <a:defRPr b="1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C1EDBB-FB71-D6F0-DEE9-936E256EB1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55440" y="3439953"/>
            <a:ext cx="10081120" cy="7091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1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4B1B5B4-69E4-1E70-406D-2130566AFD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5440" y="5408002"/>
            <a:ext cx="2880320" cy="894828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E61F217-3157-16C4-B247-6A403E4388F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58525" y="4159161"/>
            <a:ext cx="10081120" cy="70912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Affiliations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59D5874-D575-9B02-C1FD-02B32FD708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16080" y="5406259"/>
            <a:ext cx="4320172" cy="894827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20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Date/Venue</a:t>
            </a:r>
          </a:p>
        </p:txBody>
      </p:sp>
    </p:spTree>
    <p:extLst>
      <p:ext uri="{BB962C8B-B14F-4D97-AF65-F5344CB8AC3E}">
        <p14:creationId xmlns:p14="http://schemas.microsoft.com/office/powerpoint/2010/main" val="35057258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4593D-BB23-6E56-828B-19B10A975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440" y="368663"/>
            <a:ext cx="10081120" cy="900097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40E180-C281-E7A1-EE1F-A2E0AD30D8B1}"/>
              </a:ext>
            </a:extLst>
          </p:cNvPr>
          <p:cNvCxnSpPr>
            <a:cxnSpLocks/>
          </p:cNvCxnSpPr>
          <p:nvPr userDrawn="1"/>
        </p:nvCxnSpPr>
        <p:spPr>
          <a:xfrm>
            <a:off x="1055440" y="1268760"/>
            <a:ext cx="1008112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81D6EA-99DD-6F5E-F982-E8C51F9EF9A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55440" y="1628803"/>
            <a:ext cx="10081120" cy="4320475"/>
          </a:xfrm>
          <a:prstGeom prst="rect">
            <a:avLst/>
          </a:prstGeom>
        </p:spPr>
        <p:txBody>
          <a:bodyPr lIns="0" tIns="0" rIns="0" bIns="0"/>
          <a:lstStyle>
            <a:lvl1pPr marL="457200" indent="-457200" algn="l">
              <a:buFont typeface="Wingdings" pitchFamily="2" charset="2"/>
              <a:buChar char="q"/>
              <a:defRPr/>
            </a:lvl1pPr>
            <a:lvl2pPr marL="685800" indent="-228600">
              <a:buFont typeface="Wingdings" pitchFamily="2" charset="2"/>
              <a:buChar char="q"/>
              <a:defRPr/>
            </a:lvl2pPr>
            <a:lvl3pPr marL="1143000" indent="-228600">
              <a:buFont typeface="Wingdings" pitchFamily="2" charset="2"/>
              <a:buChar char="q"/>
              <a:defRPr/>
            </a:lvl3pPr>
            <a:lvl4pPr marL="1600200" indent="-228600">
              <a:buFont typeface="Wingdings" pitchFamily="2" charset="2"/>
              <a:buChar char="q"/>
              <a:defRPr/>
            </a:lvl4pPr>
            <a:lvl5pPr marL="2057400" indent="-228600">
              <a:buFont typeface="Wingdings" pitchFamily="2" charset="2"/>
              <a:buChar char="q"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F4748810-8D1C-98F4-C93C-F6151A6AD3C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055440" y="6309328"/>
            <a:ext cx="2513588" cy="180009"/>
          </a:xfrm>
        </p:spPr>
        <p:txBody>
          <a:bodyPr lIns="0" tIns="0" rIns="0" bIns="0"/>
          <a:lstStyle>
            <a:lvl1pPr>
              <a:defRPr sz="1600"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C7E73A3-7DB2-5BE9-8E56-8EDD84109C2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581400" y="6309328"/>
            <a:ext cx="5029200" cy="180009"/>
          </a:xfrm>
        </p:spPr>
        <p:txBody>
          <a:bodyPr lIns="0" tIns="0" rIns="0" bIns="0"/>
          <a:lstStyle>
            <a:lvl1pPr>
              <a:defRPr sz="1600"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6AA740D-EEA3-1E86-A44E-098E9854583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610600" y="6309328"/>
            <a:ext cx="2525960" cy="180009"/>
          </a:xfrm>
        </p:spPr>
        <p:txBody>
          <a:bodyPr lIns="0" tIns="0" rIns="0" bIns="0"/>
          <a:lstStyle>
            <a:lvl1pPr>
              <a:defRPr sz="1600" b="0">
                <a:solidFill>
                  <a:schemeClr val="tx1"/>
                </a:solidFill>
              </a:defRPr>
            </a:lvl1pPr>
          </a:lstStyle>
          <a:p>
            <a:fld id="{BAA55473-3431-D347-B684-4E3BA0EBF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4402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79F736C6-4B7D-4F9A-A2B8-8B18D07CDE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7012AAAA-908E-1798-9C32-2329EBFC15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6064A2-0AD6-4A4B-A4FC-E061C62389D5}" type="datetime1">
              <a:rPr lang="en-US" smtClean="0"/>
              <a:t>12/12/25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D9707C1D-8822-AD25-498B-EC5958D2F2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A55473-3431-D347-B684-4E3BA0EBF7F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Title Placeholder 18">
            <a:extLst>
              <a:ext uri="{FF2B5EF4-FFF2-40B4-BE49-F238E27FC236}">
                <a16:creationId xmlns:a16="http://schemas.microsoft.com/office/drawing/2014/main" id="{CBA067F6-641A-56A7-9F96-5237D4D3C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D7B66DD-6683-330D-8F3C-73155A03C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5679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Hofstadter%27s_butterfly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77E2A-E0AC-30C7-3028-542B51AE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Hofstadter’s butterfly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F0450-DBF2-DDD0-76B9-4D199AB645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Dongsin Kim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352C2F-6158-11D5-1FFF-3563E05051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Department of Physics, </a:t>
            </a:r>
            <a:r>
              <a:rPr lang="en-US" altLang="ko-KR" dirty="0" err="1"/>
              <a:t>Sogang</a:t>
            </a:r>
            <a:r>
              <a:rPr lang="en-US" altLang="ko-KR" dirty="0"/>
              <a:t> University, Seoul, Korea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EBA72A-564D-821C-A694-9B6F73F3D2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2025/12/12</a:t>
            </a:r>
          </a:p>
        </p:txBody>
      </p:sp>
    </p:spTree>
    <p:extLst>
      <p:ext uri="{BB962C8B-B14F-4D97-AF65-F5344CB8AC3E}">
        <p14:creationId xmlns:p14="http://schemas.microsoft.com/office/powerpoint/2010/main" val="1690868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49869-8822-DC05-B2BC-690B1675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4E5B9D-26C6-99D9-2CC6-33C39E667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Hofstadter’s butterfly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CE35D9-142A-15C4-1968-8D13EA46B87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A55473-3431-D347-B684-4E3BA0EBF7F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0" name="날짜 개체 틀 3">
            <a:extLst>
              <a:ext uri="{FF2B5EF4-FFF2-40B4-BE49-F238E27FC236}">
                <a16:creationId xmlns:a16="http://schemas.microsoft.com/office/drawing/2014/main" id="{ADEE9F10-2404-1E20-9706-BA956328E9AB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055440" y="6309328"/>
            <a:ext cx="2513588" cy="180009"/>
          </a:xfrm>
        </p:spPr>
        <p:txBody>
          <a:bodyPr/>
          <a:lstStyle/>
          <a:p>
            <a:r>
              <a:rPr lang="en-US" dirty="0"/>
              <a:t>2025/12/12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F8811C7-27F6-DB86-E930-463CC66012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55440" y="1358771"/>
            <a:ext cx="10081120" cy="45905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KR" sz="2000" b="1" dirty="0"/>
              <a:t>Hofstadter’s butterfly is a graph of the spectral properties of non-interacting two-dimensional electrons in a perpendicular magnetic field in a lattice.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701B41F5-A94A-D34A-22C8-6494B0529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1611" y="1853828"/>
            <a:ext cx="5568989" cy="4185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4D7A3F-2A48-40B3-1972-ABA1170D5C99}"/>
              </a:ext>
            </a:extLst>
          </p:cNvPr>
          <p:cNvSpPr txBox="1"/>
          <p:nvPr/>
        </p:nvSpPr>
        <p:spPr>
          <a:xfrm>
            <a:off x="3255004" y="5976368"/>
            <a:ext cx="53555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1200" dirty="0"/>
              <a:t>Figure from Wikipedia: </a:t>
            </a:r>
            <a:r>
              <a:rPr lang="en-US" sz="1200" dirty="0">
                <a:hlinkClick r:id="rId3"/>
              </a:rPr>
              <a:t>https://</a:t>
            </a:r>
            <a:r>
              <a:rPr lang="en-US" sz="1200" dirty="0" err="1">
                <a:hlinkClick r:id="rId3"/>
              </a:rPr>
              <a:t>en.wikipedia.org</a:t>
            </a:r>
            <a:r>
              <a:rPr lang="en-US" sz="1200" dirty="0">
                <a:hlinkClick r:id="rId3"/>
              </a:rPr>
              <a:t>/wiki/Hofstadter%27s_butterfly</a:t>
            </a:r>
            <a:endParaRPr lang="en-KR" sz="1200" dirty="0"/>
          </a:p>
        </p:txBody>
      </p:sp>
    </p:spTree>
    <p:extLst>
      <p:ext uri="{BB962C8B-B14F-4D97-AF65-F5344CB8AC3E}">
        <p14:creationId xmlns:p14="http://schemas.microsoft.com/office/powerpoint/2010/main" val="200239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0167D-E118-09D9-B50B-53319E882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2FC71F-90EC-2C39-44E4-8E994C046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Theoretical model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4A00B6-C899-9CC1-770E-B9558B8FC06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A55473-3431-D347-B684-4E3BA0EBF7F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0" name="날짜 개체 틀 3">
            <a:extLst>
              <a:ext uri="{FF2B5EF4-FFF2-40B4-BE49-F238E27FC236}">
                <a16:creationId xmlns:a16="http://schemas.microsoft.com/office/drawing/2014/main" id="{5A2F32F5-1D0F-256E-F2D7-8937446D971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055440" y="6309328"/>
            <a:ext cx="2513588" cy="180009"/>
          </a:xfrm>
        </p:spPr>
        <p:txBody>
          <a:bodyPr/>
          <a:lstStyle/>
          <a:p>
            <a:r>
              <a:rPr lang="en-US" dirty="0"/>
              <a:t>2025/12/12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CC0AE622-4E5F-847F-D1DD-AD97F98C8C26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1055440" y="1358771"/>
                <a:ext cx="10081120" cy="459050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KR" sz="1800" dirty="0"/>
                  <a:t>For a 2D square lattice, the tight-binding Hamiltonian energy dispersion relation is</a:t>
                </a:r>
              </a:p>
              <a:p>
                <a:pPr marL="0" indent="0">
                  <a:buNone/>
                </a:pPr>
                <a:endParaRPr lang="en-KR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1" i="0" smtClean="0">
                              <a:latin typeface="Cambria Math" panose="02040503050406030204" pitchFamily="18" charset="0"/>
                            </a:rPr>
                            <m:t>𝐤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p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KR" sz="1800" dirty="0"/>
              </a:p>
              <a:p>
                <a:pPr marL="0" indent="0">
                  <a:buNone/>
                </a:pPr>
                <a:endParaRPr lang="en-KR" sz="1800" dirty="0"/>
              </a:p>
              <a:p>
                <a:pPr marL="0" indent="0">
                  <a:buNone/>
                </a:pPr>
                <a:r>
                  <a:rPr lang="en-KR" sz="1800" dirty="0"/>
                  <a:t>T</a:t>
                </a:r>
                <a:r>
                  <a:rPr lang="en-US" sz="1800" dirty="0"/>
                  <a:t>h</a:t>
                </a:r>
                <a:r>
                  <a:rPr lang="en-KR" sz="1800" dirty="0"/>
                  <a:t>e magnetic field can be taken into account by using Peierls substitution, replacing the crystal momentum with the canonical momentum.</a:t>
                </a:r>
              </a:p>
              <a:p>
                <a:pPr marL="0" indent="0">
                  <a:buNone/>
                </a:pPr>
                <a:endParaRPr lang="en-KR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ℏ</m:t>
                      </m:r>
                      <m:r>
                        <a:rPr lang="en-US" sz="1800" b="1" i="0" smtClean="0">
                          <a:latin typeface="Cambria Math" panose="02040503050406030204" pitchFamily="18" charset="0"/>
                        </a:rPr>
                        <m:t>𝐤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800" b="1" i="0" smtClean="0">
                          <a:latin typeface="Cambria Math" panose="02040503050406030204" pitchFamily="18" charset="0"/>
                        </a:rPr>
                        <m:t>𝐩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800" b="1" i="0" smtClean="0">
                          <a:latin typeface="Cambria Math" panose="02040503050406030204" pitchFamily="18" charset="0"/>
                        </a:rPr>
                        <m:t>𝐀</m:t>
                      </m:r>
                    </m:oMath>
                  </m:oMathPara>
                </a14:m>
                <a:endParaRPr lang="en-KR" sz="1800" b="1" dirty="0"/>
              </a:p>
              <a:p>
                <a:pPr marL="0" indent="0">
                  <a:buNone/>
                </a:pPr>
                <a:endParaRPr lang="en-KR" sz="1800" b="1" dirty="0"/>
              </a:p>
              <a:p>
                <a:pPr marL="0" indent="0">
                  <a:buNone/>
                </a:pPr>
                <a:r>
                  <a:rPr lang="en-KR" sz="1800" dirty="0"/>
                  <a:t>For convenience we choose the gauge </a:t>
                </a:r>
                <a14:m>
                  <m:oMath xmlns:m="http://schemas.openxmlformats.org/officeDocument/2006/math">
                    <m:r>
                      <a:rPr lang="en-US" sz="1800" b="1" i="0" smtClean="0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0, 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𝐵𝑥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, 0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KR" sz="1800" dirty="0"/>
              </a:p>
            </p:txBody>
          </p:sp>
        </mc:Choice>
        <mc:Fallback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CC0AE622-4E5F-847F-D1DD-AD97F98C8C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1055440" y="1358771"/>
                <a:ext cx="10081120" cy="4590508"/>
              </a:xfrm>
              <a:blipFill>
                <a:blip r:embed="rId2"/>
                <a:stretch>
                  <a:fillRect l="-1385" t="-2486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5525E58-0AD1-843F-2EAA-77BADCB55D50}"/>
              </a:ext>
            </a:extLst>
          </p:cNvPr>
          <p:cNvSpPr txBox="1"/>
          <p:nvPr/>
        </p:nvSpPr>
        <p:spPr>
          <a:xfrm>
            <a:off x="6456040" y="5990804"/>
            <a:ext cx="46805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Hofstadter, Douglas R., </a:t>
            </a:r>
            <a:r>
              <a:rPr lang="en-US" sz="1200" i="1" dirty="0"/>
              <a:t>Physical Review B</a:t>
            </a:r>
            <a:r>
              <a:rPr lang="en-US" sz="1200" dirty="0"/>
              <a:t>. </a:t>
            </a:r>
            <a:r>
              <a:rPr lang="en-US" sz="1200" b="1" dirty="0"/>
              <a:t>14 </a:t>
            </a:r>
            <a:r>
              <a:rPr lang="en-US" sz="1200" dirty="0"/>
              <a:t>2239-2249, (1976) </a:t>
            </a:r>
            <a:endParaRPr lang="en-KR" sz="1200" dirty="0"/>
          </a:p>
        </p:txBody>
      </p:sp>
    </p:spTree>
    <p:extLst>
      <p:ext uri="{BB962C8B-B14F-4D97-AF65-F5344CB8AC3E}">
        <p14:creationId xmlns:p14="http://schemas.microsoft.com/office/powerpoint/2010/main" val="2964238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0C7C6-EDA0-24BB-9900-8A06515C3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C6BD03-EF9A-0CE9-8E53-404A83DB6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Theoretical model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39EB86-B0DA-8D0F-6F42-071F4C4DA10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A55473-3431-D347-B684-4E3BA0EBF7F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0" name="날짜 개체 틀 3">
            <a:extLst>
              <a:ext uri="{FF2B5EF4-FFF2-40B4-BE49-F238E27FC236}">
                <a16:creationId xmlns:a16="http://schemas.microsoft.com/office/drawing/2014/main" id="{74F24656-9513-165A-E1FB-793DD9313E8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055440" y="6309328"/>
            <a:ext cx="2513588" cy="180009"/>
          </a:xfrm>
        </p:spPr>
        <p:txBody>
          <a:bodyPr/>
          <a:lstStyle/>
          <a:p>
            <a:r>
              <a:rPr lang="en-US" dirty="0"/>
              <a:t>2025/12/12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BA20C727-18B5-F1C1-7B4E-4258472CA680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1055440" y="1358771"/>
                <a:ext cx="10081120" cy="459050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𝑖𝑎</m:t>
                                  </m:r>
                                </m:num>
                                <m:den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𝑖𝑎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80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d>
                            <m:d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𝑖𝑎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8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800" b="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𝑞𝐵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exp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𝑖𝑎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𝑞𝐵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KR" sz="1800" dirty="0"/>
              </a:p>
              <a:p>
                <a:pPr marL="0" indent="0">
                  <a:buNone/>
                </a:pPr>
                <a:endParaRPr lang="en-KR" sz="1800" dirty="0"/>
              </a:p>
              <a:p>
                <a:pPr marL="0" indent="0">
                  <a:buNone/>
                </a:pPr>
                <a:r>
                  <a:rPr lang="en-KR" sz="1800" dirty="0"/>
                  <a:t>Because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KR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KR" sz="1800" dirty="0"/>
                  <a:t>, we can rewrite the effective Hamiltonian:</a:t>
                </a:r>
              </a:p>
              <a:p>
                <a:pPr marL="0" indent="0">
                  <a:buNone/>
                </a:pPr>
                <a:endParaRPr lang="en-KR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exp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𝑖𝑎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exp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𝑖𝑎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exp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𝑖𝑎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exp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𝑞𝐵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den>
                              </m:f>
                            </m:e>
                          </m:d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exp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  <m:t>𝑖𝑎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exp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𝑖𝑞𝐵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KR" sz="1800" dirty="0"/>
              </a:p>
              <a:p>
                <a:pPr marL="0" indent="0">
                  <a:buNone/>
                </a:pPr>
                <a:endParaRPr lang="en-KR" sz="1800" dirty="0"/>
              </a:p>
              <a:p>
                <a:pPr marL="0" indent="0">
                  <a:buNone/>
                </a:pPr>
                <a:r>
                  <a:rPr lang="en-US" sz="1800" dirty="0"/>
                  <a:t>The exponential of the momentum operator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en-KR" sz="1800" dirty="0"/>
                  <a:t>, acts as the translation operator in position space.</a:t>
                </a:r>
              </a:p>
              <a:p>
                <a:pPr marL="0" indent="0">
                  <a:buNone/>
                </a:pPr>
                <a:endParaRPr lang="en-KR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i="0" smtClean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𝑖𝑎</m:t>
                              </m:r>
                            </m:num>
                            <m:den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1" i="0" smtClean="0"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1" i="0" smtClean="0">
                              <a:latin typeface="Cambria Math" panose="02040503050406030204" pitchFamily="18" charset="0"/>
                            </a:rPr>
                            <m:t>𝐫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acc>
                            <m:accPr>
                              <m:chr m:val="̂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b="1" i="0" smtClean="0">
                                  <a:latin typeface="Cambria Math" panose="02040503050406030204" pitchFamily="18" charset="0"/>
                                </a:rPr>
                                <m:t>𝐣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KR" sz="1800" dirty="0"/>
              </a:p>
            </p:txBody>
          </p:sp>
        </mc:Choice>
        <mc:Fallback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BA20C727-18B5-F1C1-7B4E-4258472CA6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1055440" y="1358771"/>
                <a:ext cx="10081120" cy="4590508"/>
              </a:xfrm>
              <a:blipFill>
                <a:blip r:embed="rId2"/>
                <a:stretch>
                  <a:fillRect l="-1385" t="-552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39B325A-B52E-FD23-2086-7AFC7E6549D3}"/>
              </a:ext>
            </a:extLst>
          </p:cNvPr>
          <p:cNvSpPr txBox="1"/>
          <p:nvPr/>
        </p:nvSpPr>
        <p:spPr>
          <a:xfrm>
            <a:off x="6456040" y="5990804"/>
            <a:ext cx="46805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Hofstadter, Douglas R., </a:t>
            </a:r>
            <a:r>
              <a:rPr lang="en-US" sz="1200" i="1" dirty="0"/>
              <a:t>Physical Review B</a:t>
            </a:r>
            <a:r>
              <a:rPr lang="en-US" sz="1200" dirty="0"/>
              <a:t>. </a:t>
            </a:r>
            <a:r>
              <a:rPr lang="en-US" sz="1200" b="1" dirty="0"/>
              <a:t>14 </a:t>
            </a:r>
            <a:r>
              <a:rPr lang="en-US" sz="1200" dirty="0"/>
              <a:t>2239-2249, (1976) </a:t>
            </a:r>
            <a:endParaRPr lang="en-KR" sz="1200" dirty="0"/>
          </a:p>
        </p:txBody>
      </p:sp>
    </p:spTree>
    <p:extLst>
      <p:ext uri="{BB962C8B-B14F-4D97-AF65-F5344CB8AC3E}">
        <p14:creationId xmlns:p14="http://schemas.microsoft.com/office/powerpoint/2010/main" val="2014879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4C5A6-DF3B-D1A3-F574-F94A23185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C79396-C62E-F946-F581-01BEDD468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Theoretical model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DD4CDE-D1FB-F5CD-1E7F-FC7626F8E1B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A55473-3431-D347-B684-4E3BA0EBF7F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0" name="날짜 개체 틀 3">
            <a:extLst>
              <a:ext uri="{FF2B5EF4-FFF2-40B4-BE49-F238E27FC236}">
                <a16:creationId xmlns:a16="http://schemas.microsoft.com/office/drawing/2014/main" id="{A7EA8E33-F81F-DF8E-9B18-9077E4B795E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055440" y="6309328"/>
            <a:ext cx="2513588" cy="180009"/>
          </a:xfrm>
        </p:spPr>
        <p:txBody>
          <a:bodyPr/>
          <a:lstStyle/>
          <a:p>
            <a:r>
              <a:rPr lang="en-US" dirty="0"/>
              <a:t>2025/12/12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1FE00F47-A15B-8DF1-D835-DB45104BC3AB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1055440" y="1358771"/>
                <a:ext cx="10081120" cy="459050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𝑖𝑞𝐵𝑥𝑎</m:t>
                              </m:r>
                              <m:r>
                                <m:rPr>
                                  <m:lit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𝑖𝑞𝐵𝑥𝑎</m:t>
                              </m:r>
                              <m:r>
                                <m:rPr>
                                  <m:lit/>
                                </m:rPr>
                                <a:rPr lang="en-US" sz="1800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KR" sz="1800" dirty="0"/>
              </a:p>
              <a:p>
                <a:pPr marL="0" indent="0">
                  <a:buNone/>
                </a:pPr>
                <a:endParaRPr lang="en-KR" sz="1800" dirty="0"/>
              </a:p>
              <a:p>
                <a:pPr marL="0" indent="0">
                  <a:buNone/>
                </a:pPr>
                <a:r>
                  <a:rPr lang="en-KR" sz="1800" dirty="0"/>
                  <a:t>Considering that the particle can only hop between points in the lattice, we write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𝑛𝑎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, 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𝑚𝑎</m:t>
                    </m:r>
                  </m:oMath>
                </a14:m>
                <a:r>
                  <a:rPr lang="en-KR" sz="1800" dirty="0"/>
                  <a:t>, where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, 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KR" sz="1800" dirty="0"/>
                  <a:t> are integers.</a:t>
                </a:r>
              </a:p>
              <a:p>
                <a:pPr marL="0" indent="0">
                  <a:buNone/>
                </a:pPr>
                <a:endParaRPr lang="en-KR" sz="1800" dirty="0"/>
              </a:p>
              <a:p>
                <a:pPr marL="0" indent="0">
                  <a:buNone/>
                </a:pPr>
                <a:r>
                  <a:rPr lang="en-KR" sz="1800" dirty="0"/>
                  <a:t>By applying the Hofstadter’s ansatz: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KR" sz="1800" dirty="0"/>
                  <a:t>, we can get this recursion relation.</a:t>
                </a:r>
              </a:p>
              <a:p>
                <a:pPr marL="0" indent="0">
                  <a:buNone/>
                </a:pPr>
                <a:endParaRPr lang="en-KR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</m:d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𝜖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KR" sz="1800" dirty="0"/>
              </a:p>
              <a:p>
                <a:pPr marL="0" indent="0">
                  <a:buNone/>
                </a:pPr>
                <a:endParaRPr lang="en-KR" sz="1800" dirty="0"/>
              </a:p>
              <a:p>
                <a:pPr marL="0" indent="0">
                  <a:buNone/>
                </a:pPr>
                <a:r>
                  <a:rPr lang="en-KR" sz="1800" dirty="0"/>
                  <a:t>where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lit/>
                      </m:rPr>
                      <a:rPr lang="en-US" sz="1800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KR" sz="1800" dirty="0"/>
                  <a:t> and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lit/>
                      </m:rPr>
                      <a:rPr lang="en-US" sz="1800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𝑞𝐵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lit/>
                      </m:rPr>
                      <a:rPr lang="en-US" sz="18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ℏ</m:t>
                    </m:r>
                  </m:oMath>
                </a14:m>
                <a:r>
                  <a:rPr lang="en-KR" sz="1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ℏ/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KR" sz="1800" dirty="0"/>
                  <a:t> is the magnetic flux quantum.</a:t>
                </a:r>
              </a:p>
            </p:txBody>
          </p:sp>
        </mc:Choice>
        <mc:Fallback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1FE00F47-A15B-8DF1-D835-DB45104BC3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1055440" y="1358771"/>
                <a:ext cx="10081120" cy="4590508"/>
              </a:xfrm>
              <a:blipFill>
                <a:blip r:embed="rId2"/>
                <a:stretch>
                  <a:fillRect l="-1385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E8CE690-645A-314E-5394-147026EF2465}"/>
              </a:ext>
            </a:extLst>
          </p:cNvPr>
          <p:cNvSpPr txBox="1"/>
          <p:nvPr/>
        </p:nvSpPr>
        <p:spPr>
          <a:xfrm>
            <a:off x="6456040" y="5990804"/>
            <a:ext cx="46805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Hofstadter, Douglas R., </a:t>
            </a:r>
            <a:r>
              <a:rPr lang="en-US" sz="1200" i="1" dirty="0"/>
              <a:t>Physical Review B</a:t>
            </a:r>
            <a:r>
              <a:rPr lang="en-US" sz="1200" dirty="0"/>
              <a:t>. </a:t>
            </a:r>
            <a:r>
              <a:rPr lang="en-US" sz="1200" b="1" dirty="0"/>
              <a:t>14 </a:t>
            </a:r>
            <a:r>
              <a:rPr lang="en-US" sz="1200" dirty="0"/>
              <a:t>2239-2249, (1976) </a:t>
            </a:r>
            <a:endParaRPr lang="en-KR" sz="1200" dirty="0"/>
          </a:p>
        </p:txBody>
      </p:sp>
    </p:spTree>
    <p:extLst>
      <p:ext uri="{BB962C8B-B14F-4D97-AF65-F5344CB8AC3E}">
        <p14:creationId xmlns:p14="http://schemas.microsoft.com/office/powerpoint/2010/main" val="2136680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591DB-FF1E-BB3B-C4CC-CF5D55AA7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7F9F9A-B196-B680-9240-5D59C782F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Theoretical model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4ED6F7-AF7F-8509-ED33-84E2EC8C1CE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A55473-3431-D347-B684-4E3BA0EBF7F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0" name="날짜 개체 틀 3">
            <a:extLst>
              <a:ext uri="{FF2B5EF4-FFF2-40B4-BE49-F238E27FC236}">
                <a16:creationId xmlns:a16="http://schemas.microsoft.com/office/drawing/2014/main" id="{5241D8AE-0769-C755-F7E8-CC3160A1A10D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055440" y="6309328"/>
            <a:ext cx="2513588" cy="180009"/>
          </a:xfrm>
        </p:spPr>
        <p:txBody>
          <a:bodyPr/>
          <a:lstStyle/>
          <a:p>
            <a:r>
              <a:rPr lang="en-US" dirty="0"/>
              <a:t>2025/12/12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3527D9C3-B5A3-0417-4A9A-93A4D6C35DF9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1055440" y="1358771"/>
                <a:ext cx="10081120" cy="459050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1800" dirty="0"/>
                  <a:t>The Chern number is can be calculated the integration of the Berry curvature over the Brillouin zone: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hr m:val="∬"/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BZ</m:t>
                          </m:r>
                        </m:sub>
                        <m:sup>
                          <m:r>
                            <a:rPr lang="en-U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nary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KR" sz="18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KR" sz="1800" dirty="0"/>
              </a:p>
              <a:p>
                <a:pPr marL="0" indent="0">
                  <a:buNone/>
                </a:pPr>
                <a:r>
                  <a:rPr lang="en-KR" sz="1800" dirty="0">
                    <a:solidFill>
                      <a:schemeClr val="tx1"/>
                    </a:solidFill>
                  </a:rPr>
                  <a:t>For the Hofstadter problem, the magnetic flux is rational,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lit/>
                      </m:rPr>
                      <a:rPr lang="en-US" sz="1800" i="1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KR" sz="1800" dirty="0">
                    <a:solidFill>
                      <a:schemeClr val="tx1"/>
                    </a:solidFill>
                  </a:rPr>
                  <a:t> which splits the energy spectrum into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KR" sz="1800" dirty="0">
                    <a:solidFill>
                      <a:schemeClr val="tx1"/>
                    </a:solidFill>
                  </a:rPr>
                  <a:t>-sub bands.</a:t>
                </a:r>
              </a:p>
              <a:p>
                <a:pPr marL="0" indent="0">
                  <a:buNone/>
                </a:pPr>
                <a:r>
                  <a:rPr lang="en-KR" sz="1800" dirty="0"/>
                  <a:t>T</a:t>
                </a:r>
                <a:r>
                  <a:rPr lang="en-US" sz="1800" dirty="0"/>
                  <a:t>h</a:t>
                </a:r>
                <a:r>
                  <a:rPr lang="en-KR" sz="1800" dirty="0"/>
                  <a:t>e TKNN(</a:t>
                </a:r>
                <a:r>
                  <a:rPr lang="en-US" sz="1800" dirty="0"/>
                  <a:t>Thouless, </a:t>
                </a:r>
                <a:r>
                  <a:rPr lang="en-US" sz="1800" dirty="0" err="1"/>
                  <a:t>Kohmoto</a:t>
                </a:r>
                <a:r>
                  <a:rPr lang="en-US" sz="1800" dirty="0"/>
                  <a:t>, Nightingale and Nijs</a:t>
                </a:r>
                <a:r>
                  <a:rPr lang="en-KR" sz="1800" dirty="0"/>
                  <a:t>) relationship links the topological invariant to the physical parameters and the band structure index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KR" sz="18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0" indent="0">
                  <a:buNone/>
                </a:pPr>
                <a:endParaRPr lang="en-KR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f>
                        <m:f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Diophantine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equation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 </m:t>
                      </m:r>
                    </m:oMath>
                  </m:oMathPara>
                </a14:m>
                <a:endParaRPr lang="en-KR" sz="1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3527D9C3-B5A3-0417-4A9A-93A4D6C35D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1055440" y="1358771"/>
                <a:ext cx="10081120" cy="4590508"/>
              </a:xfrm>
              <a:blipFill>
                <a:blip r:embed="rId2"/>
                <a:stretch>
                  <a:fillRect l="-1385" t="-7182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C9C486F-D627-FCA0-FFDE-BD36D2292B4B}"/>
              </a:ext>
            </a:extLst>
          </p:cNvPr>
          <p:cNvSpPr txBox="1"/>
          <p:nvPr/>
        </p:nvSpPr>
        <p:spPr>
          <a:xfrm>
            <a:off x="6726071" y="5990804"/>
            <a:ext cx="44104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Thouless D </a:t>
            </a:r>
            <a:r>
              <a:rPr lang="en-US" sz="1200" i="1" dirty="0"/>
              <a:t>et al</a:t>
            </a:r>
            <a:r>
              <a:rPr lang="en-US" sz="1200" dirty="0"/>
              <a:t>.,</a:t>
            </a:r>
            <a:r>
              <a:rPr lang="en-US" sz="1200" i="1" dirty="0"/>
              <a:t> Physical Review Letters</a:t>
            </a:r>
            <a:r>
              <a:rPr lang="en-US" sz="1200" dirty="0"/>
              <a:t>. </a:t>
            </a:r>
            <a:r>
              <a:rPr lang="en-US" sz="1200" b="1" dirty="0"/>
              <a:t>49 </a:t>
            </a:r>
            <a:r>
              <a:rPr lang="en-US" sz="1200" dirty="0"/>
              <a:t>405-408, (1982) </a:t>
            </a:r>
            <a:endParaRPr lang="en-KR" sz="1200" dirty="0"/>
          </a:p>
        </p:txBody>
      </p:sp>
    </p:spTree>
    <p:extLst>
      <p:ext uri="{BB962C8B-B14F-4D97-AF65-F5344CB8AC3E}">
        <p14:creationId xmlns:p14="http://schemas.microsoft.com/office/powerpoint/2010/main" val="2754061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529E7-F3C9-A483-82F8-C49081E6C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AEFF1B-0BC9-9CBB-FAD0-6933F3425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Code implementation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7FD1F9-283F-F1CF-1120-B83ECF7347E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A55473-3431-D347-B684-4E3BA0EBF7F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0" name="날짜 개체 틀 3">
            <a:extLst>
              <a:ext uri="{FF2B5EF4-FFF2-40B4-BE49-F238E27FC236}">
                <a16:creationId xmlns:a16="http://schemas.microsoft.com/office/drawing/2014/main" id="{63061138-56D5-F70C-75C8-75B9D2CE86A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055440" y="6309328"/>
            <a:ext cx="2513588" cy="180009"/>
          </a:xfrm>
        </p:spPr>
        <p:txBody>
          <a:bodyPr/>
          <a:lstStyle/>
          <a:p>
            <a:r>
              <a:rPr lang="en-US" dirty="0"/>
              <a:t>2025/12/12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51F262-6B93-A7BE-D79C-6CEFD0CBF89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55440" y="1407638"/>
            <a:ext cx="5213452" cy="48851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8B7CB7-68D6-473E-EE41-7DF216CE7B6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68892" y="1553000"/>
            <a:ext cx="5535615" cy="443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533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66038-8F50-D7D3-A86A-2B0CB170A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6FAD47-A6E1-5AA3-82AD-31A21AF9B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Code implementation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E835D5-C554-FE88-5F8F-FCAFF703A2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A55473-3431-D347-B684-4E3BA0EBF7F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0" name="날짜 개체 틀 3">
            <a:extLst>
              <a:ext uri="{FF2B5EF4-FFF2-40B4-BE49-F238E27FC236}">
                <a16:creationId xmlns:a16="http://schemas.microsoft.com/office/drawing/2014/main" id="{77E3107E-48CF-8992-41B9-44AFF9896C87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055440" y="6309328"/>
            <a:ext cx="2513588" cy="180009"/>
          </a:xfrm>
        </p:spPr>
        <p:txBody>
          <a:bodyPr/>
          <a:lstStyle/>
          <a:p>
            <a:r>
              <a:rPr lang="en-US" dirty="0"/>
              <a:t>2025/12/12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315400-09F0-4656-40F9-2F4DDA325BD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2371867"/>
            <a:ext cx="6885765" cy="28343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DD1B7D-D818-4E47-40D8-2D8BDD8A5C6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63946" y="1321347"/>
            <a:ext cx="5057445" cy="5180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197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95E8B-B93C-F746-7EDE-A2AEF9E01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99ED5F-85B4-C287-94A0-606742998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Results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DD4241-763B-79A3-5300-95E03EEEBF9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A55473-3431-D347-B684-4E3BA0EBF7F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0" name="날짜 개체 틀 3">
            <a:extLst>
              <a:ext uri="{FF2B5EF4-FFF2-40B4-BE49-F238E27FC236}">
                <a16:creationId xmlns:a16="http://schemas.microsoft.com/office/drawing/2014/main" id="{4D086002-A3F5-A194-E7CD-1583FD0D265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055440" y="6309328"/>
            <a:ext cx="2513588" cy="180009"/>
          </a:xfrm>
        </p:spPr>
        <p:txBody>
          <a:bodyPr/>
          <a:lstStyle/>
          <a:p>
            <a:r>
              <a:rPr lang="en-US" dirty="0"/>
              <a:t>2025/12/12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4A42B2-F882-C6DA-04B2-F918C1D673E4}"/>
              </a:ext>
            </a:extLst>
          </p:cNvPr>
          <p:cNvSpPr txBox="1"/>
          <p:nvPr/>
        </p:nvSpPr>
        <p:spPr>
          <a:xfrm>
            <a:off x="1043068" y="1373496"/>
            <a:ext cx="2525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b="1" dirty="0"/>
              <a:t>Hofstadter’s butterfly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68B8E6-D508-FE93-F5A5-121101F83FF8}"/>
                  </a:ext>
                </a:extLst>
              </p:cNvPr>
              <p:cNvSpPr txBox="1"/>
              <p:nvPr/>
            </p:nvSpPr>
            <p:spPr>
              <a:xfrm>
                <a:off x="6096000" y="2357883"/>
                <a:ext cx="4725525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 energy spectrum exhibits a recursive, self-similar fractal pattern as a function of magnetic flux.</a:t>
                </a:r>
              </a:p>
              <a:p>
                <a:endParaRPr lang="en-US" dirty="0"/>
              </a:p>
              <a:p>
                <a:r>
                  <a:rPr lang="en-US" dirty="0"/>
                  <a:t>For a rational flux,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KR" dirty="0"/>
                  <a:t>, the original energy bands splits into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KR" dirty="0"/>
                  <a:t> sub-bands.</a:t>
                </a:r>
              </a:p>
              <a:p>
                <a:endParaRPr lang="en-KR" dirty="0"/>
              </a:p>
              <a:p>
                <a:r>
                  <a:rPr lang="en-KR" dirty="0"/>
                  <a:t>In the limit of low magnetic flux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→0)</m:t>
                    </m:r>
                  </m:oMath>
                </a14:m>
                <a:r>
                  <a:rPr lang="en-KR" dirty="0"/>
                  <a:t>, the discrete bands converge to form continous Landau levels.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68B8E6-D508-FE93-F5A5-121101F83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357883"/>
                <a:ext cx="4725525" cy="2862322"/>
              </a:xfrm>
              <a:prstGeom prst="rect">
                <a:avLst/>
              </a:prstGeom>
              <a:blipFill>
                <a:blip r:embed="rId2"/>
                <a:stretch>
                  <a:fillRect l="-1072" t="-885" b="-2655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27B8C411-9F20-D5D3-3F16-518B855B178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55440" y="1742828"/>
            <a:ext cx="4320000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10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CF122-91DC-471C-3E7D-B62330F50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2B0608-90F5-6A07-D099-D436353A0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Results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02CCF0-0F40-6EC9-6674-137AB7C81BA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A55473-3431-D347-B684-4E3BA0EBF7F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0" name="날짜 개체 틀 3">
            <a:extLst>
              <a:ext uri="{FF2B5EF4-FFF2-40B4-BE49-F238E27FC236}">
                <a16:creationId xmlns:a16="http://schemas.microsoft.com/office/drawing/2014/main" id="{E96C28F9-CC74-3F87-1639-D245F8167FF6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055440" y="6309328"/>
            <a:ext cx="2513588" cy="180009"/>
          </a:xfrm>
        </p:spPr>
        <p:txBody>
          <a:bodyPr/>
          <a:lstStyle/>
          <a:p>
            <a:r>
              <a:rPr lang="en-US" dirty="0"/>
              <a:t>2025/12/12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0470B6-FC0D-69DB-148D-35963974C880}"/>
              </a:ext>
            </a:extLst>
          </p:cNvPr>
          <p:cNvSpPr txBox="1"/>
          <p:nvPr/>
        </p:nvSpPr>
        <p:spPr>
          <a:xfrm>
            <a:off x="1043068" y="1373496"/>
            <a:ext cx="3612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b="1" dirty="0"/>
              <a:t>Chern nubmer (TKNN number)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4BE0C9-E69A-7A82-41E2-EFE74B4CE72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3068" y="1742828"/>
            <a:ext cx="4320000" cy="432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5ED044-0183-42E5-5E13-FE3FBDE1D0B0}"/>
                  </a:ext>
                </a:extLst>
              </p:cNvPr>
              <p:cNvSpPr txBox="1"/>
              <p:nvPr/>
            </p:nvSpPr>
            <p:spPr>
              <a:xfrm>
                <a:off x="6096000" y="2357883"/>
                <a:ext cx="4725525" cy="2740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 colors represent the Chern numbers of the gaps in the spectrum.</a:t>
                </a:r>
              </a:p>
              <a:p>
                <a:endParaRPr lang="en-KR" dirty="0"/>
              </a:p>
              <a:p>
                <a:r>
                  <a:rPr lang="en-KR" dirty="0"/>
                  <a:t>T</a:t>
                </a:r>
                <a:r>
                  <a:rPr lang="en-US" dirty="0"/>
                  <a:t>h</a:t>
                </a:r>
                <a:r>
                  <a:rPr lang="en-KR" dirty="0"/>
                  <a:t>e blue colors indicate negative Chern numbers and the red colors indicate positive Chern numbers.</a:t>
                </a:r>
              </a:p>
              <a:p>
                <a:endParaRPr lang="en-KR" dirty="0"/>
              </a:p>
              <a:p>
                <a:r>
                  <a:rPr lang="en-KR" dirty="0"/>
                  <a:t>This picture shows that Hall conductivity is quantized to integer values: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endParaRPr lang="en-KR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5ED044-0183-42E5-5E13-FE3FBDE1D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357883"/>
                <a:ext cx="4725525" cy="2740174"/>
              </a:xfrm>
              <a:prstGeom prst="rect">
                <a:avLst/>
              </a:prstGeom>
              <a:blipFill>
                <a:blip r:embed="rId3"/>
                <a:stretch>
                  <a:fillRect l="-1072" t="-922" r="-804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4266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6E385-51D0-3C87-820A-D51983F79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0733BD-211F-2CEF-9826-E4234B60D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Future works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867ED3-E865-7907-0795-A72B5896BD1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A55473-3431-D347-B684-4E3BA0EBF7F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0" name="날짜 개체 틀 3">
            <a:extLst>
              <a:ext uri="{FF2B5EF4-FFF2-40B4-BE49-F238E27FC236}">
                <a16:creationId xmlns:a16="http://schemas.microsoft.com/office/drawing/2014/main" id="{904A86CD-05EF-FF3E-1717-DBEE896FF8E0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055440" y="6309328"/>
            <a:ext cx="2513588" cy="180009"/>
          </a:xfrm>
        </p:spPr>
        <p:txBody>
          <a:bodyPr/>
          <a:lstStyle/>
          <a:p>
            <a:r>
              <a:rPr lang="en-US" dirty="0"/>
              <a:t>2025/12/12</a:t>
            </a:r>
          </a:p>
        </p:txBody>
      </p:sp>
      <p:pic>
        <p:nvPicPr>
          <p:cNvPr id="10246" name="Picture 6" descr="Figure 3">
            <a:extLst>
              <a:ext uri="{FF2B5EF4-FFF2-40B4-BE49-F238E27FC236}">
                <a16:creationId xmlns:a16="http://schemas.microsoft.com/office/drawing/2014/main" id="{F654A522-FA68-D362-820C-19D079507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0" y="2483895"/>
            <a:ext cx="8226327" cy="2790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CF8AFC-1ACB-F2AD-BEB8-C15F18FD02DC}"/>
              </a:ext>
            </a:extLst>
          </p:cNvPr>
          <p:cNvSpPr txBox="1"/>
          <p:nvPr/>
        </p:nvSpPr>
        <p:spPr>
          <a:xfrm>
            <a:off x="1055440" y="1399129"/>
            <a:ext cx="3870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b="1" dirty="0"/>
              <a:t>Hofstadter’s butterfly in graphene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17A5F8-50DC-5B78-54B7-8DD4BC16300B}"/>
              </a:ext>
            </a:extLst>
          </p:cNvPr>
          <p:cNvSpPr txBox="1"/>
          <p:nvPr/>
        </p:nvSpPr>
        <p:spPr>
          <a:xfrm>
            <a:off x="7851194" y="5990804"/>
            <a:ext cx="32853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Dean, C.R. </a:t>
            </a:r>
            <a:r>
              <a:rPr lang="en-US" sz="1200" i="1" dirty="0"/>
              <a:t>et al., Nature</a:t>
            </a:r>
            <a:r>
              <a:rPr lang="en-US" sz="1200" dirty="0"/>
              <a:t> </a:t>
            </a:r>
            <a:r>
              <a:rPr lang="en-US" sz="1200" b="1" dirty="0"/>
              <a:t>497</a:t>
            </a:r>
            <a:r>
              <a:rPr lang="en-US" sz="1200" dirty="0"/>
              <a:t> 598-602, (2013)</a:t>
            </a:r>
            <a:endParaRPr lang="en-KR" sz="1200" dirty="0"/>
          </a:p>
        </p:txBody>
      </p:sp>
    </p:spTree>
    <p:extLst>
      <p:ext uri="{BB962C8B-B14F-4D97-AF65-F5344CB8AC3E}">
        <p14:creationId xmlns:p14="http://schemas.microsoft.com/office/powerpoint/2010/main" val="1903223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 template" id="{12D84C57-2830-4345-BE75-264DA1028CB6}" vid="{98215C36-FA77-3044-99B2-22A3750B98F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6057</TotalTime>
  <Words>588</Words>
  <Application>Microsoft Macintosh PowerPoint</Application>
  <PresentationFormat>Widescreen</PresentationFormat>
  <Paragraphs>91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Cambria Math</vt:lpstr>
      <vt:lpstr>Wingdings</vt:lpstr>
      <vt:lpstr>Office Theme</vt:lpstr>
      <vt:lpstr>Hofstadter’s butterfly</vt:lpstr>
      <vt:lpstr>Hofstadter’s butterfly</vt:lpstr>
      <vt:lpstr>Theoretical model</vt:lpstr>
      <vt:lpstr>Theoretical model</vt:lpstr>
      <vt:lpstr>Theoretical model</vt:lpstr>
      <vt:lpstr>Theoretical model</vt:lpstr>
      <vt:lpstr>Code implementation</vt:lpstr>
      <vt:lpstr>Code implementation</vt:lpstr>
      <vt:lpstr>Results</vt:lpstr>
      <vt:lpstr>Results</vt:lpstr>
      <vt:lpstr>Future works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Young Woo Choi</dc:creator>
  <cp:lastModifiedBy>김동신</cp:lastModifiedBy>
  <cp:revision>433</cp:revision>
  <cp:lastPrinted>2024-08-15T18:58:29Z</cp:lastPrinted>
  <dcterms:created xsi:type="dcterms:W3CDTF">2024-08-15T05:16:07Z</dcterms:created>
  <dcterms:modified xsi:type="dcterms:W3CDTF">2025-12-12T04:04:21Z</dcterms:modified>
</cp:coreProperties>
</file>